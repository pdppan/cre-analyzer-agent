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0" d="100"/>
          <a:sy n="120" d="100"/>
        </p:scale>
        <p:origin x="624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DSCR</c:v>
                </c:pt>
              </c:strCache>
            </c:strRef>
          </c:tx>
          <c:invertIfNegative val="1"/>
          <c:cat>
            <c:strRef>
              <c:f>Sheet1!$A$2:$A$4</c:f>
              <c:strCache>
                <c:ptCount val="3"/>
                <c:pt idx="0">
                  <c:v>Baseline</c:v>
                </c:pt>
                <c:pt idx="1">
                  <c:v>+100 bps</c:v>
                </c:pt>
                <c:pt idx="2">
                  <c:v>+200 bps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1.45</c:v>
                </c:pt>
                <c:pt idx="1">
                  <c:v>1.22</c:v>
                </c:pt>
                <c:pt idx="2">
                  <c:v>1.05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3E9-4AFC-A475-8BFD616891D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CRE Analyzer Agent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AI-Powered Commercial Real Estate Intelligence</a:t>
            </a:r>
          </a:p>
          <a:p>
            <a:r>
              <a:t>Team: AI-lluminati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Manual, spreadsheet-heavy CRE underwriting</a:t>
            </a:r>
          </a:p>
          <a:p>
            <a:r>
              <a:t>Slow scenario iteration</a:t>
            </a:r>
          </a:p>
          <a:p>
            <a:r>
              <a:t>Lack of explainable risk narratives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Agentic AI for valuation and stress testing</a:t>
            </a:r>
          </a:p>
          <a:p>
            <a:r>
              <a:t>Real-time scenario simulation</a:t>
            </a:r>
          </a:p>
          <a:p>
            <a:r>
              <a:t>LLM-generated investment-grade explanations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Clean Agent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463040"/>
            <a:ext cx="2011680" cy="548640"/>
          </a:xfrm>
          <a:prstGeom prst="rect">
            <a:avLst/>
          </a:prstGeom>
          <a:solidFill>
            <a:schemeClr val="tx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dirty="0"/>
              <a:t>Input Layer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0" y="1463040"/>
            <a:ext cx="2011680" cy="548640"/>
          </a:xfrm>
          <a:prstGeom prst="rect">
            <a:avLst/>
          </a:prstGeom>
          <a:solidFill>
            <a:schemeClr val="tx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dirty="0"/>
              <a:t>Agent &amp; Analytics Layer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463040"/>
            <a:ext cx="2011680" cy="548640"/>
          </a:xfrm>
          <a:prstGeom prst="rect">
            <a:avLst/>
          </a:prstGeom>
          <a:solidFill>
            <a:schemeClr val="tx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dirty="0"/>
              <a:t>Platform Layer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286000"/>
            <a:ext cx="2011680" cy="1005840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dirty="0"/>
              <a:t>Web UI</a:t>
            </a:r>
          </a:p>
          <a:p>
            <a:r>
              <a:rPr dirty="0"/>
              <a:t>(Deal Inputs &amp; Scenarios)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0" y="2286000"/>
            <a:ext cx="2011680" cy="1005840"/>
          </a:xfrm>
          <a:prstGeom prst="roundRect">
            <a:avLst/>
          </a:prstGeom>
          <a:solidFill>
            <a:schemeClr val="accent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Financial Engine</a:t>
            </a:r>
          </a:p>
          <a:p>
            <a:r>
              <a:t>• NOI</a:t>
            </a:r>
          </a:p>
          <a:p>
            <a:r>
              <a:t>• DSCR</a:t>
            </a:r>
          </a:p>
          <a:p>
            <a:r>
              <a:t>• Stress Tests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399" y="3429000"/>
            <a:ext cx="2524539" cy="1373588"/>
          </a:xfrm>
          <a:prstGeom prst="roundRect">
            <a:avLst/>
          </a:prstGeom>
          <a:solidFill>
            <a:schemeClr val="accent4">
              <a:lumMod val="7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dirty="0"/>
              <a:t>LLM Agent</a:t>
            </a:r>
          </a:p>
          <a:p>
            <a:r>
              <a:rPr dirty="0"/>
              <a:t>• Reasoning</a:t>
            </a:r>
          </a:p>
          <a:p>
            <a:r>
              <a:rPr dirty="0"/>
              <a:t>• Memo Generation</a:t>
            </a:r>
          </a:p>
          <a:p>
            <a:r>
              <a:rPr dirty="0"/>
              <a:t>• Risk Narrative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286000"/>
            <a:ext cx="2011680" cy="1005840"/>
          </a:xfrm>
          <a:prstGeom prst="roundRect">
            <a:avLst/>
          </a:prstGeom>
          <a:solidFill>
            <a:schemeClr val="accent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dirty="0"/>
              <a:t>GCP Cloud Run</a:t>
            </a:r>
          </a:p>
          <a:p>
            <a:r>
              <a:rPr dirty="0"/>
              <a:t>• Containerized API</a:t>
            </a:r>
          </a:p>
          <a:p>
            <a:r>
              <a:rPr dirty="0"/>
              <a:t>• </a:t>
            </a:r>
            <a:r>
              <a:rPr dirty="0" err="1"/>
              <a:t>Autoscale</a:t>
            </a:r>
            <a:endParaRPr dirty="0"/>
          </a:p>
        </p:txBody>
      </p:sp>
      <p:sp>
        <p:nvSpPr>
          <p:cNvPr id="10" name="Rounded Rectangle 9"/>
          <p:cNvSpPr/>
          <p:nvPr/>
        </p:nvSpPr>
        <p:spPr>
          <a:xfrm>
            <a:off x="6217920" y="3566160"/>
            <a:ext cx="2011680" cy="1005840"/>
          </a:xfrm>
          <a:prstGeom prst="roundRect">
            <a:avLst/>
          </a:prstGeom>
          <a:solidFill>
            <a:srgbClr val="7030A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dirty="0"/>
              <a:t>Observability</a:t>
            </a:r>
          </a:p>
          <a:p>
            <a:r>
              <a:rPr dirty="0"/>
              <a:t>• Logs</a:t>
            </a:r>
          </a:p>
          <a:p>
            <a:r>
              <a:rPr dirty="0"/>
              <a:t>• Metrics</a:t>
            </a:r>
          </a:p>
        </p:txBody>
      </p:sp>
      <p:sp>
        <p:nvSpPr>
          <p:cNvPr id="11" name="Chevron 10"/>
          <p:cNvSpPr/>
          <p:nvPr/>
        </p:nvSpPr>
        <p:spPr>
          <a:xfrm>
            <a:off x="2651760" y="2743200"/>
            <a:ext cx="411480" cy="411480"/>
          </a:xfrm>
          <a:prstGeom prst="chevron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Chevron 11"/>
          <p:cNvSpPr/>
          <p:nvPr/>
        </p:nvSpPr>
        <p:spPr>
          <a:xfrm>
            <a:off x="5394960" y="2743200"/>
            <a:ext cx="411480" cy="411480"/>
          </a:xfrm>
          <a:prstGeom prst="chevron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Analytics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NOI and Cap Rate valuation</a:t>
            </a:r>
          </a:p>
          <a:p>
            <a:r>
              <a:t>DSCR and cash flow analysis</a:t>
            </a:r>
          </a:p>
          <a:p>
            <a:r>
              <a:t>Rate and income stress scenarios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DSCR Stress Scenario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097280" y="1828800"/>
          <a:ext cx="5029200" cy="2926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589687A-5181-823F-ACA2-DCD4B9B9D432}"/>
              </a:ext>
            </a:extLst>
          </p:cNvPr>
          <p:cNvSpPr txBox="1"/>
          <p:nvPr/>
        </p:nvSpPr>
        <p:spPr>
          <a:xfrm>
            <a:off x="1582310" y="5009322"/>
            <a:ext cx="460380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Property’s </a:t>
            </a:r>
            <a:r>
              <a:rPr lang="en-US" b="1" dirty="0"/>
              <a:t>Debt Service Coverage Ratio (DSCR)</a:t>
            </a:r>
            <a:r>
              <a:rPr lang="en-US" dirty="0"/>
              <a:t> responds to rising interest rates, holding operating assumptions constant.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Live Demo Interface</a:t>
            </a:r>
          </a:p>
        </p:txBody>
      </p:sp>
      <p:pic>
        <p:nvPicPr>
          <p:cNvPr id="3" name="Picture 2" descr="788442d6-8b7f-41d4-ab67-57f314e329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8229600" cy="606940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1-Minute Pitch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CRE underwriting is slow and opaque.</a:t>
            </a:r>
          </a:p>
          <a:p>
            <a:endParaRPr/>
          </a:p>
          <a:p>
            <a:r>
              <a:t>The CRE Analyzer Agent uses agentic AI to instantly value properties, run stress scenarios, and explain risk in plain language.</a:t>
            </a:r>
          </a:p>
          <a:p>
            <a:endParaRPr/>
          </a:p>
          <a:p>
            <a:r>
              <a:t>It replaces spreadsheets with reasoning — enabling faster, clearer investment decisions.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Future State – Multi-Agent 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2103120"/>
            <a:ext cx="1737360" cy="9144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Risk Agent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0" y="2103120"/>
            <a:ext cx="1737360" cy="914400"/>
          </a:xfrm>
          <a:prstGeom prst="roundRect">
            <a:avLst/>
          </a:prstGeom>
          <a:solidFill>
            <a:schemeClr val="tx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dirty="0"/>
              <a:t>Market Agent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54880" y="2103120"/>
            <a:ext cx="1737360" cy="914400"/>
          </a:xfrm>
          <a:prstGeom prst="roundRect">
            <a:avLst/>
          </a:prstGeom>
          <a:solidFill>
            <a:schemeClr val="accent5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dirty="0"/>
              <a:t>Policy / Credit Agent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66560" y="2103120"/>
            <a:ext cx="1737360" cy="914400"/>
          </a:xfrm>
          <a:prstGeom prst="roundRect">
            <a:avLst/>
          </a:prstGeom>
          <a:solidFill>
            <a:srgbClr val="00B05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Narrative Agent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60320" y="3657599"/>
            <a:ext cx="4023360" cy="1272209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Agent Orchestrator</a:t>
            </a:r>
          </a:p>
          <a:p>
            <a:r>
              <a:t>• Task routing</a:t>
            </a:r>
          </a:p>
          <a:p>
            <a:r>
              <a:t>• Shared context</a:t>
            </a:r>
          </a:p>
          <a:p>
            <a:r>
              <a:t>• Consensus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204</Words>
  <Application>Microsoft Office PowerPoint</Application>
  <PresentationFormat>On-screen Show (4:3)</PresentationFormat>
  <Paragraphs>54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CRE Analyzer Agent</vt:lpstr>
      <vt:lpstr>Problem</vt:lpstr>
      <vt:lpstr>Solution</vt:lpstr>
      <vt:lpstr>Clean Agent Architecture</vt:lpstr>
      <vt:lpstr>Key Analytics</vt:lpstr>
      <vt:lpstr>DSCR Stress Scenario</vt:lpstr>
      <vt:lpstr>Live Demo Interface</vt:lpstr>
      <vt:lpstr>1-Minute Pitch</vt:lpstr>
      <vt:lpstr>Future State – Multi-Agent Architecture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Pradeep Panda</cp:lastModifiedBy>
  <cp:revision>4</cp:revision>
  <dcterms:created xsi:type="dcterms:W3CDTF">2013-01-27T09:14:16Z</dcterms:created>
  <dcterms:modified xsi:type="dcterms:W3CDTF">2025-12-16T21:24:33Z</dcterms:modified>
  <cp:category/>
</cp:coreProperties>
</file>