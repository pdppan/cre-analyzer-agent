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932" autoAdjust="0"/>
  </p:normalViewPr>
  <p:slideViewPr>
    <p:cSldViewPr snapToGrid="0" snapToObjects="1">
      <p:cViewPr varScale="1">
        <p:scale>
          <a:sx n="78" d="100"/>
          <a:sy n="78" d="100"/>
        </p:scale>
        <p:origin x="102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DSCR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+100 bps</c:v>
                </c:pt>
                <c:pt idx="2">
                  <c:v>+200 bps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1.45</c:v>
                </c:pt>
                <c:pt idx="1">
                  <c:v>1.22</c:v>
                </c:pt>
                <c:pt idx="2">
                  <c:v>1.05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3E9-4AFC-A475-8BFD616891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3C07BF-92DE-489E-9C4D-F85A27A02083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11725-E353-4021-932E-55FF9F546B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41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Note:</a:t>
            </a:r>
            <a:r>
              <a:rPr lang="en-US" dirty="0"/>
              <a:t> "Currently, highly paid bankers spend hours acting as 'human search engines' just to gather basic facts for a loan request. It’s unscalable, expensive, and hurts competitiveness. We are solving the 'Analyst's Bottleneck'."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11725-E353-4021-932E-55FF9F546B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12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Note:</a:t>
            </a:r>
            <a:r>
              <a:rPr lang="en-US" dirty="0"/>
              <a:t> "Our agent doesn't just summarize text; it actively plans. It goes out to public data sources, performs the necessary financial calculations, and synthesizes varied information into an investment-committee-ready format."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11725-E353-4021-932E-55FF9F546B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640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Note:</a:t>
            </a:r>
            <a:r>
              <a:rPr lang="en-US" dirty="0"/>
              <a:t> "The output isn't just a data dump. It's a structured narrative. The agent assesses the risk, runs the basic financial scenarios, and presents a holistic view of the opportunity."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11725-E353-4021-932E-55FF9F546B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97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Speaker Note (Gesturing to the slide):</a:t>
            </a:r>
            <a:r>
              <a:rPr lang="en-US" dirty="0"/>
              <a:t> "This is our live prototype. On the left, the banker enters minimal deal inputs—like this Office property in Charlotte with an $8.2M NOI and a requested $65M loan. They hit 'Generate', and the agent takes over. Minutes later, the right side populates with the structured Deal Memo sections you see here."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11725-E353-4021-932E-55FF9F546B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71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11725-E353-4021-932E-55FF9F546B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438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ai-lluminati-1027827275262.us-central1.run.app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dppan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 Analyzer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Commercial Real Estate Intelligence</a:t>
            </a:r>
          </a:p>
          <a:p>
            <a:r>
              <a:t>Team: AI-lluminati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The "Analyst's Bottleneck“ : Commercial lending is high-stakes, but the process is notoriously slow and manual.</a:t>
            </a:r>
          </a:p>
          <a:p>
            <a:endParaRPr lang="en-US" dirty="0"/>
          </a:p>
          <a:p>
            <a:r>
              <a:rPr lang="en-US" b="1" dirty="0"/>
              <a:t>The Pain Points: </a:t>
            </a:r>
          </a:p>
          <a:p>
            <a:pPr lvl="1"/>
            <a:r>
              <a:rPr lang="en-US" b="1" dirty="0"/>
              <a:t>Limited Throughput:</a:t>
            </a:r>
            <a:r>
              <a:rPr lang="en-US" dirty="0"/>
              <a:t> Bankers cannot screen deals fast enough, missing opportunities.</a:t>
            </a:r>
          </a:p>
          <a:p>
            <a:pPr lvl="1"/>
            <a:r>
              <a:rPr lang="en-US" b="1" dirty="0"/>
              <a:t>Inconsistent Quality:</a:t>
            </a:r>
            <a:r>
              <a:rPr lang="en-US" dirty="0"/>
              <a:t> Manual data gathering leads to human error and varied underwriting standards.</a:t>
            </a:r>
          </a:p>
          <a:p>
            <a:pPr lvl="1"/>
            <a:r>
              <a:rPr lang="en-US" b="1" dirty="0"/>
              <a:t>Slow Customer Response:</a:t>
            </a:r>
            <a:r>
              <a:rPr lang="en-US" dirty="0"/>
              <a:t> In a competitive market, a slow "maybe" means losing the deal to a faster competitor.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Agentic AI for valuation and stress testing</a:t>
            </a:r>
          </a:p>
          <a:p>
            <a:r>
              <a:rPr dirty="0"/>
              <a:t>Real-time scenario simulation</a:t>
            </a:r>
          </a:p>
          <a:p>
            <a:r>
              <a:rPr dirty="0"/>
              <a:t>LLM-generated investment-grade explanations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 Agent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63040"/>
            <a:ext cx="2011680" cy="54864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Input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463040"/>
            <a:ext cx="2011680" cy="54864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Agent &amp; Analytics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463040"/>
            <a:ext cx="2011680" cy="548640"/>
          </a:xfrm>
          <a:prstGeom prst="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Platform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011680" cy="100584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Web UI</a:t>
            </a:r>
          </a:p>
          <a:p>
            <a:r>
              <a:rPr dirty="0"/>
              <a:t>(Deal Inputs &amp; Scenarios)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286000"/>
            <a:ext cx="2011680" cy="1005840"/>
          </a:xfrm>
          <a:prstGeom prst="round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Financial Engine</a:t>
            </a:r>
          </a:p>
          <a:p>
            <a:r>
              <a:t>• NOI</a:t>
            </a:r>
          </a:p>
          <a:p>
            <a:r>
              <a:t>• DSCR</a:t>
            </a:r>
          </a:p>
          <a:p>
            <a:r>
              <a:t>• Stress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399" y="3429000"/>
            <a:ext cx="2524539" cy="1373588"/>
          </a:xfrm>
          <a:prstGeom prst="roundRect">
            <a:avLst/>
          </a:prstGeom>
          <a:solidFill>
            <a:schemeClr val="accent4">
              <a:lumMod val="7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LLM Agent</a:t>
            </a:r>
          </a:p>
          <a:p>
            <a:r>
              <a:rPr dirty="0"/>
              <a:t>• Reasoning</a:t>
            </a:r>
          </a:p>
          <a:p>
            <a:r>
              <a:rPr dirty="0"/>
              <a:t>• Memo Generation</a:t>
            </a:r>
          </a:p>
          <a:p>
            <a:r>
              <a:rPr dirty="0"/>
              <a:t>• Risk Narrative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2011680" cy="1005840"/>
          </a:xfrm>
          <a:prstGeom prst="roundRect">
            <a:avLst/>
          </a:prstGeom>
          <a:solidFill>
            <a:schemeClr val="accent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GCP Cloud Run</a:t>
            </a:r>
          </a:p>
          <a:p>
            <a:r>
              <a:rPr dirty="0"/>
              <a:t>• Containerized API</a:t>
            </a:r>
          </a:p>
          <a:p>
            <a:r>
              <a:rPr dirty="0"/>
              <a:t>• </a:t>
            </a:r>
            <a:r>
              <a:rPr dirty="0" err="1"/>
              <a:t>Autoscale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217920" y="3566160"/>
            <a:ext cx="2011680" cy="1005840"/>
          </a:xfrm>
          <a:prstGeom prst="round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Observability</a:t>
            </a:r>
          </a:p>
          <a:p>
            <a:r>
              <a:rPr dirty="0"/>
              <a:t>• Logs</a:t>
            </a:r>
          </a:p>
          <a:p>
            <a:r>
              <a:rPr dirty="0"/>
              <a:t>• Metrics</a:t>
            </a:r>
          </a:p>
        </p:txBody>
      </p:sp>
      <p:sp>
        <p:nvSpPr>
          <p:cNvPr id="11" name="Chevron 10"/>
          <p:cNvSpPr/>
          <p:nvPr/>
        </p:nvSpPr>
        <p:spPr>
          <a:xfrm>
            <a:off x="2651760" y="2743200"/>
            <a:ext cx="411480" cy="411480"/>
          </a:xfrm>
          <a:prstGeom prst="chevron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hevron 11"/>
          <p:cNvSpPr/>
          <p:nvPr/>
        </p:nvSpPr>
        <p:spPr>
          <a:xfrm>
            <a:off x="5394960" y="2743200"/>
            <a:ext cx="411480" cy="411480"/>
          </a:xfrm>
          <a:prstGeom prst="chevron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NOI and Cap Rate valuation</a:t>
            </a:r>
          </a:p>
          <a:p>
            <a:r>
              <a:t>DSCR and cash flow analysis</a:t>
            </a:r>
          </a:p>
          <a:p>
            <a:r>
              <a:t>Rate and income stress scenarios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DSCR Stress Scenario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097280" y="182880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589687A-5181-823F-ACA2-DCD4B9B9D432}"/>
              </a:ext>
            </a:extLst>
          </p:cNvPr>
          <p:cNvSpPr txBox="1"/>
          <p:nvPr/>
        </p:nvSpPr>
        <p:spPr>
          <a:xfrm>
            <a:off x="1582310" y="5009322"/>
            <a:ext cx="4603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Property’s </a:t>
            </a:r>
            <a:r>
              <a:rPr lang="en-US" b="1" dirty="0"/>
              <a:t>Debt Service Coverage Ratio (DSCR)</a:t>
            </a:r>
            <a:r>
              <a:rPr lang="en-US" dirty="0"/>
              <a:t> responds to rising interest rates, holding operating assumptions constant.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Live Demo Interface</a:t>
            </a:r>
          </a:p>
        </p:txBody>
      </p:sp>
      <p:pic>
        <p:nvPicPr>
          <p:cNvPr id="3" name="Picture 2" descr="788442d6-8b7f-41d4-ab67-57f314e329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04085"/>
            <a:ext cx="8229600" cy="40900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6D24F0-837C-46FF-0E0D-35D63F9C083D}"/>
              </a:ext>
            </a:extLst>
          </p:cNvPr>
          <p:cNvSpPr txBox="1"/>
          <p:nvPr/>
        </p:nvSpPr>
        <p:spPr>
          <a:xfrm>
            <a:off x="457200" y="1168918"/>
            <a:ext cx="69939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https://ai-lluminati-1027827275262.us-central1.run.app/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Future State – Multi-Agent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03120"/>
            <a:ext cx="1737360" cy="914400"/>
          </a:xfrm>
          <a:prstGeom prst="roundRect">
            <a:avLst/>
          </a:prstGeom>
          <a:solidFill>
            <a:schemeClr val="accent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Risk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103120"/>
            <a:ext cx="1737360" cy="914400"/>
          </a:xfrm>
          <a:prstGeom prst="roundRect">
            <a:avLst/>
          </a:prstGeom>
          <a:solidFill>
            <a:schemeClr val="tx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Market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103120"/>
            <a:ext cx="1737360" cy="914400"/>
          </a:xfrm>
          <a:prstGeom prst="roundRect">
            <a:avLst/>
          </a:prstGeom>
          <a:solidFill>
            <a:schemeClr val="accent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Policy / Credit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0" y="2103120"/>
            <a:ext cx="1737360" cy="91440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Narrative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3657599"/>
            <a:ext cx="4023360" cy="127220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Agent Orchestrator</a:t>
            </a:r>
          </a:p>
          <a:p>
            <a:r>
              <a:t>• Task routing</a:t>
            </a:r>
          </a:p>
          <a:p>
            <a:r>
              <a:t>• Shared context</a:t>
            </a:r>
          </a:p>
          <a:p>
            <a:r>
              <a:t>• Consensus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386AF-B05C-88A1-A6CD-2C6EA89ED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38" y="1224783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728F00-F82A-AD23-86A1-779D5A6E1551}"/>
              </a:ext>
            </a:extLst>
          </p:cNvPr>
          <p:cNvSpPr txBox="1"/>
          <p:nvPr/>
        </p:nvSpPr>
        <p:spPr>
          <a:xfrm>
            <a:off x="3200400" y="379153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Git- </a:t>
            </a:r>
            <a:r>
              <a:rPr lang="en-US" dirty="0">
                <a:hlinkClick r:id="rId2"/>
              </a:rPr>
              <a:t>https://github.com/pdppan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03E70-645B-1CD5-7C2C-A08B9ACD8B93}"/>
              </a:ext>
            </a:extLst>
          </p:cNvPr>
          <p:cNvSpPr txBox="1"/>
          <p:nvPr/>
        </p:nvSpPr>
        <p:spPr>
          <a:xfrm>
            <a:off x="1377778" y="2625760"/>
            <a:ext cx="61165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Team AI-</a:t>
            </a:r>
            <a:r>
              <a:rPr lang="en-US" sz="4000" b="1" dirty="0" err="1"/>
              <a:t>lluminati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52438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438</Words>
  <Application>Microsoft Office PowerPoint</Application>
  <PresentationFormat>On-screen Show (4:3)</PresentationFormat>
  <Paragraphs>64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CRE Analyzer Agent</vt:lpstr>
      <vt:lpstr>Problem</vt:lpstr>
      <vt:lpstr>Solution</vt:lpstr>
      <vt:lpstr>Clean Agent Architecture</vt:lpstr>
      <vt:lpstr>Key Analytics</vt:lpstr>
      <vt:lpstr>DSCR Stress Scenario</vt:lpstr>
      <vt:lpstr>Live Demo Interface</vt:lpstr>
      <vt:lpstr>Future State – Multi-Agent Architecture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Pradeep Panda</cp:lastModifiedBy>
  <cp:revision>7</cp:revision>
  <dcterms:created xsi:type="dcterms:W3CDTF">2013-01-27T09:14:16Z</dcterms:created>
  <dcterms:modified xsi:type="dcterms:W3CDTF">2025-12-16T21:51:08Z</dcterms:modified>
  <cp:category/>
</cp:coreProperties>
</file>